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0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71" r:id="rId13"/>
    <p:sldId id="266" r:id="rId14"/>
    <p:sldId id="267" r:id="rId15"/>
    <p:sldId id="268" r:id="rId16"/>
    <p:sldId id="269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209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111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638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125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810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930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42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059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225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232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746935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4719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476199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8188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478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639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198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7D6B88DD-42FB-8C3E-229C-39C8E0FB6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0220" y="951271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6000" b="1" dirty="0">
                <a:latin typeface="Edwardian Script ITC" panose="030303020407070D0804" pitchFamily="66" charset="0"/>
              </a:rPr>
              <a:t>Instructor: Dr. Imran Qureshi </a:t>
            </a:r>
          </a:p>
          <a:p>
            <a:pPr marL="0" indent="0">
              <a:buNone/>
            </a:pPr>
            <a:r>
              <a:rPr lang="en-US" sz="6000" b="1" dirty="0">
                <a:solidFill>
                  <a:srgbClr val="0070C0"/>
                </a:solidFill>
                <a:latin typeface="Edwardian Script ITC" panose="030303020407070D0804" pitchFamily="66" charset="0"/>
              </a:rPr>
              <a:t>Presented by: Muhammad Jawad Khan</a:t>
            </a:r>
          </a:p>
          <a:p>
            <a:pPr marL="0" indent="0">
              <a:buNone/>
            </a:pPr>
            <a:r>
              <a:rPr lang="en-US" sz="5400" b="1" dirty="0">
                <a:solidFill>
                  <a:srgbClr val="0070C0"/>
                </a:solidFill>
                <a:latin typeface="Pristina" panose="03060402040406080204" pitchFamily="66" charset="0"/>
              </a:rPr>
              <a:t>Reg ID: 2503961</a:t>
            </a:r>
          </a:p>
        </p:txBody>
      </p:sp>
    </p:spTree>
    <p:extLst>
      <p:ext uri="{BB962C8B-B14F-4D97-AF65-F5344CB8AC3E}">
        <p14:creationId xmlns:p14="http://schemas.microsoft.com/office/powerpoint/2010/main" val="865140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Prescriptive Analytics </a:t>
            </a:r>
            <a:r>
              <a:rPr lang="en-US" dirty="0"/>
              <a:t>project</a:t>
            </a:r>
            <a:br>
              <a:rPr lang="en-US" dirty="0"/>
            </a:br>
            <a:r>
              <a:rPr dirty="0"/>
              <a:t>Manufacturing Production Planning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ABC Manufacturing Ltd.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Organization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ABC Manufacturing Ltd. is a mid-sized manufacturing firm</a:t>
            </a:r>
          </a:p>
          <a:p>
            <a:r>
              <a:rPr dirty="0"/>
              <a:t>Produces industrial components for automotive assembly</a:t>
            </a:r>
          </a:p>
          <a:p>
            <a:r>
              <a:rPr dirty="0"/>
              <a:t>Operates under a make-to-stock strategy</a:t>
            </a:r>
          </a:p>
          <a:p>
            <a:r>
              <a:rPr dirty="0"/>
              <a:t>Single manufacturing plant with a monthly planning horizon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Meet customer demand in every period</a:t>
            </a:r>
          </a:p>
          <a:p>
            <a:r>
              <a:rPr dirty="0"/>
              <a:t>Minimize total production and inventory cost</a:t>
            </a:r>
          </a:p>
          <a:p>
            <a:r>
              <a:rPr dirty="0"/>
              <a:t>Efficient utilization of labor and machine capacity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GB" dirty="0"/>
              <a:t>In prescriptive analytics, it is used to </a:t>
            </a:r>
            <a:r>
              <a:rPr lang="en-GB" b="1" dirty="0"/>
              <a:t>evaluate trade-offs</a:t>
            </a:r>
            <a:r>
              <a:rPr lang="en-GB" dirty="0"/>
              <a:t> between:</a:t>
            </a:r>
          </a:p>
          <a:p>
            <a:r>
              <a:rPr lang="en-GB" dirty="0"/>
              <a:t>Holding too much inventory (high storage cost)</a:t>
            </a:r>
          </a:p>
          <a:p>
            <a:r>
              <a:rPr lang="en-GB" dirty="0"/>
              <a:t>Holding too little inventory (risk of stockouts and lost sales)</a:t>
            </a:r>
          </a:p>
          <a:p>
            <a:r>
              <a:rPr lang="en-GB" b="1" dirty="0"/>
              <a:t>Storage costs</a:t>
            </a:r>
            <a:r>
              <a:rPr lang="en-GB" dirty="0"/>
              <a:t> (warehouse rent, utilities)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Production Planning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Demand fluctuates across months</a:t>
            </a:r>
          </a:p>
          <a:p>
            <a:r>
              <a:t>Management must decide how much to produce each month</a:t>
            </a:r>
          </a:p>
          <a:p>
            <a:r>
              <a:t>Overproduction causes inventory holding costs</a:t>
            </a:r>
          </a:p>
          <a:p>
            <a:r>
              <a:t>Underproduction causes stockouts and lost sales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Prescriptive Analytics?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Multiple decisions and trade-offs exist</a:t>
            </a:r>
          </a:p>
          <a:p>
            <a:r>
              <a:t>Forecasts alone are not sufficient</a:t>
            </a:r>
          </a:p>
          <a:p>
            <a:r>
              <a:t>Management needs optimal production decisions</a:t>
            </a:r>
          </a:p>
          <a:p>
            <a:r>
              <a:t>Goal is to recommend the best possible action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Analytics Life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Descriptive Analytics – What happened?</a:t>
            </a:r>
          </a:p>
          <a:p>
            <a:r>
              <a:t>Diagnostic Analytics – Why did it happen?</a:t>
            </a:r>
          </a:p>
          <a:p>
            <a:r>
              <a:t>Predictive Analytics – What will happen?</a:t>
            </a:r>
          </a:p>
          <a:p>
            <a:r>
              <a:t>Prescriptive Analytics – What should we do?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Descriptive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Historical demand analysis</a:t>
            </a:r>
          </a:p>
          <a:p>
            <a:r>
              <a:t>Month 1 demand: 500 units</a:t>
            </a:r>
          </a:p>
          <a:p>
            <a:r>
              <a:t>Month 2 demand: 600 units</a:t>
            </a:r>
          </a:p>
          <a:p>
            <a:r>
              <a:t>Demand shows an increasing trend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Diagnostic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Demand variation driven by seasonal factors</a:t>
            </a:r>
          </a:p>
          <a:p>
            <a:r>
              <a:t>Higher demand increases production pressure</a:t>
            </a:r>
          </a:p>
          <a:p>
            <a:r>
              <a:t>Lack of optimized planning causes inefficiencies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Predictive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Demand forecast based on historical trends</a:t>
            </a:r>
          </a:p>
          <a:p>
            <a:r>
              <a:t>Month 1 forecast: 500 units</a:t>
            </a:r>
          </a:p>
          <a:p>
            <a:r>
              <a:t>Month 2 forecast: 600 units</a:t>
            </a:r>
          </a:p>
          <a:p>
            <a:r>
              <a:t>Forecasts serve as inputs to optimization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Prescriptive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Determine optimal production quantities</a:t>
            </a:r>
          </a:p>
          <a:p>
            <a:r>
              <a:t>Objective is to minimize total cost</a:t>
            </a:r>
          </a:p>
          <a:p>
            <a:r>
              <a:t>Constraints include demand satisfaction and non-negativity</a:t>
            </a:r>
          </a:p>
          <a:p>
            <a:r>
              <a:t>Linear programming is used as the optimization technique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2282EC-445D-0527-0861-DE8F822908FA}"/>
              </a:ext>
            </a:extLst>
          </p:cNvPr>
          <p:cNvSpPr txBox="1"/>
          <p:nvPr/>
        </p:nvSpPr>
        <p:spPr>
          <a:xfrm>
            <a:off x="309716" y="2330244"/>
            <a:ext cx="858356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Key components of a linear programming model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Decision variables</a:t>
            </a:r>
            <a:br>
              <a:rPr lang="en-GB" dirty="0"/>
            </a:br>
            <a:r>
              <a:rPr lang="en-GB" dirty="0"/>
              <a:t>Quantities the model chooses (e.g., how many units to produce, ship, or store).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Objective function</a:t>
            </a:r>
            <a:br>
              <a:rPr lang="en-GB" dirty="0"/>
            </a:br>
            <a:r>
              <a:rPr lang="en-GB" dirty="0"/>
              <a:t>A linear equation to be optimized: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b="1" dirty="0"/>
              <a:t>Maximize</a:t>
            </a:r>
            <a:r>
              <a:rPr lang="en-GB" dirty="0"/>
              <a:t> profit, revenue, service level, or output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b="1" dirty="0"/>
              <a:t>Minimize</a:t>
            </a:r>
            <a:r>
              <a:rPr lang="en-GB" dirty="0"/>
              <a:t> cost, time, or waste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Constraints</a:t>
            </a:r>
            <a:br>
              <a:rPr lang="en-GB" dirty="0"/>
            </a:br>
            <a:r>
              <a:rPr lang="en-GB" dirty="0"/>
              <a:t>Linear inequalities or equalities that restrict decisions: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Resource limits (</a:t>
            </a:r>
            <a:r>
              <a:rPr lang="en-GB" dirty="0" err="1"/>
              <a:t>labor</a:t>
            </a:r>
            <a:r>
              <a:rPr lang="en-GB" dirty="0"/>
              <a:t>, machines, materials)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Capacity or demand requirements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Budget or policy restrictions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Non-negativity condition</a:t>
            </a:r>
            <a:br>
              <a:rPr lang="en-GB" dirty="0"/>
            </a:br>
            <a:r>
              <a:rPr lang="en-GB" dirty="0"/>
              <a:t>Decision variables cannot be negative.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8D4423-B041-746B-1652-9AE8380EDEEA}"/>
              </a:ext>
            </a:extLst>
          </p:cNvPr>
          <p:cNvSpPr txBox="1"/>
          <p:nvPr/>
        </p:nvSpPr>
        <p:spPr>
          <a:xfrm>
            <a:off x="309716" y="1159304"/>
            <a:ext cx="78313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In prescriptive analytics, a </a:t>
            </a:r>
            <a:r>
              <a:rPr lang="en-GB" b="1"/>
              <a:t>linear programming model</a:t>
            </a:r>
            <a:r>
              <a:rPr lang="en-GB"/>
              <a:t> determines </a:t>
            </a:r>
            <a:r>
              <a:rPr lang="en-GB" b="1"/>
              <a:t>optimal decisions</a:t>
            </a:r>
            <a:r>
              <a:rPr lang="en-GB"/>
              <a:t> under given limitations (resources, capacity, demand, cost) using </a:t>
            </a:r>
            <a:r>
              <a:rPr lang="en-GB" b="1"/>
              <a:t>linear relationships</a:t>
            </a:r>
            <a:r>
              <a:rPr lang="en-GB"/>
              <a:t>. 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E68605-A4D0-88AB-6114-2651BE38D021}"/>
              </a:ext>
            </a:extLst>
          </p:cNvPr>
          <p:cNvSpPr txBox="1"/>
          <p:nvPr/>
        </p:nvSpPr>
        <p:spPr>
          <a:xfrm>
            <a:off x="309715" y="188106"/>
            <a:ext cx="629756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92D050"/>
                </a:solidFill>
              </a:rPr>
              <a:t>Linear Programming Model</a:t>
            </a:r>
          </a:p>
        </p:txBody>
      </p:sp>
    </p:spTree>
    <p:extLst>
      <p:ext uri="{BB962C8B-B14F-4D97-AF65-F5344CB8AC3E}">
        <p14:creationId xmlns:p14="http://schemas.microsoft.com/office/powerpoint/2010/main" val="36431481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Linear Programming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dirty="0"/>
              <a:t>Decision variables: production in Month 1 and Month 2</a:t>
            </a:r>
          </a:p>
          <a:p>
            <a:r>
              <a:rPr dirty="0"/>
              <a:t>Objective: Minimize total production cost</a:t>
            </a:r>
          </a:p>
          <a:p>
            <a:r>
              <a:rPr dirty="0"/>
              <a:t>Constraints: Meet demand in each month</a:t>
            </a:r>
          </a:p>
          <a:p>
            <a:r>
              <a:rPr dirty="0"/>
              <a:t>Non-negativity constraints apply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Optimal Production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Produce 500 units in Month 1</a:t>
            </a:r>
          </a:p>
          <a:p>
            <a:r>
              <a:t>Produce 600 units in Month 2</a:t>
            </a:r>
          </a:p>
          <a:p>
            <a:r>
              <a:t>No inventory carried between months</a:t>
            </a:r>
          </a:p>
          <a:p>
            <a:r>
              <a:t>All demand is satisfied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Total cost minimized to $11,000</a:t>
            </a:r>
          </a:p>
          <a:p>
            <a:r>
              <a:rPr dirty="0"/>
              <a:t>No excess inventory holding cost</a:t>
            </a:r>
          </a:p>
          <a:p>
            <a:r>
              <a:rPr dirty="0"/>
              <a:t>Efficient production planning achieved</a:t>
            </a:r>
          </a:p>
          <a:p>
            <a:r>
              <a:rPr dirty="0"/>
              <a:t>Data-driven decision-making enabled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Prescriptive analytics supports optimal decisions</a:t>
            </a:r>
          </a:p>
          <a:p>
            <a:r>
              <a:t>Linear programming converts forecasts into actions</a:t>
            </a:r>
          </a:p>
          <a:p>
            <a:r>
              <a:t>Production planning becomes cost-efficient and reliable</a:t>
            </a:r>
          </a:p>
          <a:p>
            <a:r>
              <a:t>Model can be extended to capacity and uncertainty scenarios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20</TotalTime>
  <Words>521</Words>
  <Application>Microsoft Office PowerPoint</Application>
  <PresentationFormat>On-screen Show (4:3)</PresentationFormat>
  <Paragraphs>86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Edwardian Script ITC</vt:lpstr>
      <vt:lpstr>Pristina</vt:lpstr>
      <vt:lpstr>Trebuchet MS</vt:lpstr>
      <vt:lpstr>Wingdings 3</vt:lpstr>
      <vt:lpstr>Facet</vt:lpstr>
      <vt:lpstr>PowerPoint Presentation</vt:lpstr>
      <vt:lpstr>Prescriptive Analytics project Manufacturing Production Planning</vt:lpstr>
      <vt:lpstr>Organization Background</vt:lpstr>
      <vt:lpstr>Business Objective</vt:lpstr>
      <vt:lpstr>Production Planning Problem</vt:lpstr>
      <vt:lpstr>Why Prescriptive Analytics?</vt:lpstr>
      <vt:lpstr>Analytics Life Cycle</vt:lpstr>
      <vt:lpstr>Descriptive Analytics</vt:lpstr>
      <vt:lpstr>Diagnostic Analytics</vt:lpstr>
      <vt:lpstr>Predictive Analytics</vt:lpstr>
      <vt:lpstr>Prescriptive Analytics</vt:lpstr>
      <vt:lpstr>PowerPoint Presentation</vt:lpstr>
      <vt:lpstr>Linear Programming Model</vt:lpstr>
      <vt:lpstr>Optimal Production Plan</vt:lpstr>
      <vt:lpstr>Business Impact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Haier</cp:lastModifiedBy>
  <cp:revision>4</cp:revision>
  <dcterms:created xsi:type="dcterms:W3CDTF">2013-01-27T09:14:16Z</dcterms:created>
  <dcterms:modified xsi:type="dcterms:W3CDTF">2026-01-03T05:24:04Z</dcterms:modified>
  <cp:category/>
</cp:coreProperties>
</file>